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 dirty="0">
                <a:solidFill>
                  <a:schemeClr val="tx2">
                    <a:lumMod val="75000"/>
                  </a:schemeClr>
                </a:solidFill>
                <a:latin typeface="Arial"/>
              </a:rPr>
              <a:t>Заказы по дням — три видимых всплеска без единого поля "источник"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 в день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Sheet1!$A$2:$A$38</c:f>
              <c:strCache>
                <c:ptCount val="37"/>
                <c:pt idx="0">
                  <c:v>04.08</c:v>
                </c:pt>
                <c:pt idx="1">
                  <c:v>05.08</c:v>
                </c:pt>
                <c:pt idx="2">
                  <c:v>06.08</c:v>
                </c:pt>
                <c:pt idx="3">
                  <c:v>07.08</c:v>
                </c:pt>
                <c:pt idx="4">
                  <c:v>08.08</c:v>
                </c:pt>
                <c:pt idx="5">
                  <c:v>09.08</c:v>
                </c:pt>
                <c:pt idx="6">
                  <c:v>10.08</c:v>
                </c:pt>
                <c:pt idx="7">
                  <c:v>11.08</c:v>
                </c:pt>
                <c:pt idx="8">
                  <c:v>12.08</c:v>
                </c:pt>
                <c:pt idx="9">
                  <c:v>13.08</c:v>
                </c:pt>
                <c:pt idx="10">
                  <c:v>14.08</c:v>
                </c:pt>
                <c:pt idx="11">
                  <c:v>15.08</c:v>
                </c:pt>
                <c:pt idx="12">
                  <c:v>16.08</c:v>
                </c:pt>
                <c:pt idx="13">
                  <c:v>17.08</c:v>
                </c:pt>
                <c:pt idx="14">
                  <c:v>18.08</c:v>
                </c:pt>
                <c:pt idx="15">
                  <c:v>19.08</c:v>
                </c:pt>
                <c:pt idx="16">
                  <c:v>20.08</c:v>
                </c:pt>
                <c:pt idx="17">
                  <c:v>21.08</c:v>
                </c:pt>
                <c:pt idx="18">
                  <c:v>22.08</c:v>
                </c:pt>
                <c:pt idx="19">
                  <c:v>23.08</c:v>
                </c:pt>
                <c:pt idx="20">
                  <c:v>24.08</c:v>
                </c:pt>
                <c:pt idx="21">
                  <c:v>25.08</c:v>
                </c:pt>
                <c:pt idx="22">
                  <c:v>26.08</c:v>
                </c:pt>
                <c:pt idx="23">
                  <c:v>27.08</c:v>
                </c:pt>
                <c:pt idx="24">
                  <c:v>28.08</c:v>
                </c:pt>
                <c:pt idx="25">
                  <c:v>29.08</c:v>
                </c:pt>
                <c:pt idx="26">
                  <c:v>30.08</c:v>
                </c:pt>
                <c:pt idx="27">
                  <c:v>31.08</c:v>
                </c:pt>
                <c:pt idx="28">
                  <c:v>01.09</c:v>
                </c:pt>
                <c:pt idx="29">
                  <c:v>02.09</c:v>
                </c:pt>
                <c:pt idx="30">
                  <c:v>03.09</c:v>
                </c:pt>
                <c:pt idx="31">
                  <c:v>04.09</c:v>
                </c:pt>
                <c:pt idx="32">
                  <c:v>05.09</c:v>
                </c:pt>
                <c:pt idx="33">
                  <c:v>06.09</c:v>
                </c:pt>
                <c:pt idx="34">
                  <c:v>07.09</c:v>
                </c:pt>
                <c:pt idx="35">
                  <c:v>08.09</c:v>
                </c:pt>
                <c:pt idx="36">
                  <c:v>09.09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7</c:v>
                </c:pt>
                <c:pt idx="1">
                  <c:v>6</c:v>
                </c:pt>
                <c:pt idx="2">
                  <c:v>7</c:v>
                </c:pt>
                <c:pt idx="3">
                  <c:v>5</c:v>
                </c:pt>
                <c:pt idx="4">
                  <c:v>35</c:v>
                </c:pt>
                <c:pt idx="5">
                  <c:v>68</c:v>
                </c:pt>
                <c:pt idx="6">
                  <c:v>29</c:v>
                </c:pt>
                <c:pt idx="7">
                  <c:v>12</c:v>
                </c:pt>
                <c:pt idx="8">
                  <c:v>14</c:v>
                </c:pt>
                <c:pt idx="9">
                  <c:v>9</c:v>
                </c:pt>
                <c:pt idx="10">
                  <c:v>9</c:v>
                </c:pt>
                <c:pt idx="11">
                  <c:v>5</c:v>
                </c:pt>
                <c:pt idx="12">
                  <c:v>5</c:v>
                </c:pt>
                <c:pt idx="13">
                  <c:v>3</c:v>
                </c:pt>
                <c:pt idx="14">
                  <c:v>6</c:v>
                </c:pt>
                <c:pt idx="15">
                  <c:v>5</c:v>
                </c:pt>
                <c:pt idx="16">
                  <c:v>6</c:v>
                </c:pt>
                <c:pt idx="17">
                  <c:v>3</c:v>
                </c:pt>
                <c:pt idx="18">
                  <c:v>26</c:v>
                </c:pt>
                <c:pt idx="19">
                  <c:v>39</c:v>
                </c:pt>
                <c:pt idx="20">
                  <c:v>19</c:v>
                </c:pt>
                <c:pt idx="21">
                  <c:v>15</c:v>
                </c:pt>
                <c:pt idx="22">
                  <c:v>9</c:v>
                </c:pt>
                <c:pt idx="23">
                  <c:v>10</c:v>
                </c:pt>
                <c:pt idx="24">
                  <c:v>6</c:v>
                </c:pt>
                <c:pt idx="25">
                  <c:v>10</c:v>
                </c:pt>
                <c:pt idx="26">
                  <c:v>19</c:v>
                </c:pt>
                <c:pt idx="27">
                  <c:v>19</c:v>
                </c:pt>
                <c:pt idx="28">
                  <c:v>19</c:v>
                </c:pt>
                <c:pt idx="29">
                  <c:v>23</c:v>
                </c:pt>
                <c:pt idx="30">
                  <c:v>20</c:v>
                </c:pt>
                <c:pt idx="31">
                  <c:v>26</c:v>
                </c:pt>
                <c:pt idx="32">
                  <c:v>49</c:v>
                </c:pt>
                <c:pt idx="33">
                  <c:v>45</c:v>
                </c:pt>
                <c:pt idx="34">
                  <c:v>17</c:v>
                </c:pt>
                <c:pt idx="35">
                  <c:v>6</c:v>
                </c:pt>
                <c:pt idx="3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2-42E3-8B07-63C749541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7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chemeClr val="bg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5C6478"/>
                </a:solidFill>
                <a:latin typeface="Arial"/>
              </a:rPr>
              <a:t>Один и тот же пример: ROMI по модели,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Канал А (знакомит)</c:v>
                </c:pt>
              </c:strCache>
            </c:strRef>
          </c:tx>
          <c:spPr>
            <a:solidFill>
              <a:srgbClr val="3A8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touch</c:v>
                </c:pt>
                <c:pt idx="1">
                  <c:v>Last touch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96-4DCB-A970-03F3723E6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Канал Б (дожимает)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touch</c:v>
                </c:pt>
                <c:pt idx="1">
                  <c:v>Last touch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96-4DCB-A970-03F3723E6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6478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5C6478"/>
                </a:solidFill>
                <a:latin typeface="Arial"/>
              </a:rPr>
              <a:t>Заказов/день: продвигали ПРО, СТАРТ не трогали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ПРО</c:v>
                </c:pt>
                <c:pt idx="1">
                  <c:v>СТАРТ (контроль)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6-4DA2-A5B9-BFCBFF9363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Во время продвижения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ПРО</c:v>
                </c:pt>
                <c:pt idx="1">
                  <c:v>СТАРТ (контроль)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10.25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36-4DA2-A5B9-BFCBFF9363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478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53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F959D70-27BE-456C-9AC0-388DC3DD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37" y="-694966"/>
            <a:ext cx="7552966" cy="755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781148" y="145902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исчезает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ru-RU" sz="44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system для Telegram-школы «Поступашки»: </a:t>
            </a:r>
            <a:endParaRPr lang="ru-RU" sz="17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приходят покупатели и какая реклама реально окупается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50292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8338" y="572047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500" b="1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Участники:</a:t>
            </a:r>
            <a:r>
              <a:rPr lang="ru-RU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Рубцова Галина Игоревна (@</a:t>
            </a:r>
            <a:r>
              <a:rPr lang="en-US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DoniZefironi</a:t>
            </a:r>
            <a:r>
              <a:rPr lang="ru-RU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), Голубчиков Антон Сергеевич (@</a:t>
            </a:r>
            <a:r>
              <a:rPr lang="ru-RU" sz="1500" dirty="0" err="1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DataScience_py_official</a:t>
            </a:r>
            <a:r>
              <a:rPr lang="ru-RU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), Григорьев Максим Олегович (@</a:t>
            </a:r>
            <a:r>
              <a:rPr lang="ru-RU" sz="1500" dirty="0" err="1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bzmotmrg</a:t>
            </a:r>
            <a:r>
              <a:rPr lang="ru-RU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), Кочкин Егор Юрьевич (@ko4a_0110), Самсонов Владимир Антонович (@</a:t>
            </a:r>
            <a:r>
              <a:rPr lang="ru-RU" sz="1500" dirty="0" err="1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samsonov_v_mir</a:t>
            </a:r>
            <a:r>
              <a:rPr lang="ru-RU" sz="1500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CE118-2A38-4D44-9342-F34105725202}"/>
              </a:ext>
            </a:extLst>
          </p:cNvPr>
          <p:cNvSpPr/>
          <p:nvPr/>
        </p:nvSpPr>
        <p:spPr>
          <a:xfrm>
            <a:off x="693046" y="2739182"/>
            <a:ext cx="49092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100" b="1" dirty="0">
                <a:solidFill>
                  <a:srgbClr val="CADCFC"/>
                </a:solidFill>
                <a:latin typeface="145786"/>
              </a:rPr>
              <a:t>Решение </a:t>
            </a:r>
            <a:r>
              <a:rPr lang="ru-RU" sz="2100" b="1" dirty="0" err="1">
                <a:solidFill>
                  <a:srgbClr val="CADCFC"/>
                </a:solidFill>
                <a:latin typeface="145786"/>
              </a:rPr>
              <a:t>хакатона</a:t>
            </a:r>
            <a:r>
              <a:rPr lang="ru-RU" sz="2100" b="1" dirty="0">
                <a:solidFill>
                  <a:srgbClr val="CADCFC"/>
                </a:solidFill>
                <a:latin typeface="145786"/>
              </a:rPr>
              <a:t> «Аналитика вне </a:t>
            </a:r>
            <a:r>
              <a:rPr lang="en-US" sz="2100" b="1" dirty="0">
                <a:solidFill>
                  <a:srgbClr val="CADCFC"/>
                </a:solidFill>
                <a:latin typeface="145786"/>
              </a:rPr>
              <a:t>SQL</a:t>
            </a:r>
            <a:r>
              <a:rPr lang="ru-RU" sz="2100" b="1" dirty="0">
                <a:solidFill>
                  <a:srgbClr val="CADCFC"/>
                </a:solidFill>
                <a:latin typeface="145786"/>
              </a:rPr>
              <a:t>»</a:t>
            </a:r>
            <a:endParaRPr lang="ru-RU" sz="2100" dirty="0">
              <a:solidFill>
                <a:srgbClr val="CADCFC"/>
              </a:solidFill>
              <a:latin typeface="145786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Picture background">
            <a:extLst>
              <a:ext uri="{FF2B5EF4-FFF2-40B4-BE49-F238E27FC236}">
                <a16:creationId xmlns:a16="http://schemas.microsoft.com/office/drawing/2014/main" id="{783DB6CB-B302-4577-821D-FEC041A8E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241" y="-375064"/>
            <a:ext cx="2853247" cy="285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 фиксирует только оплату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24545">
              <a:alpha val="15000"/>
            </a:srgbClr>
          </a:solidFill>
          <a:ln w="15875">
            <a:solidFill>
              <a:srgbClr val="C24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33472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8" name="Shape 6"/>
          <p:cNvSpPr/>
          <p:nvPr/>
        </p:nvSpPr>
        <p:spPr>
          <a:xfrm>
            <a:off x="2898648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24545">
              <a:alpha val="15000"/>
            </a:srgbClr>
          </a:solidFill>
          <a:ln w="15875">
            <a:solidFill>
              <a:srgbClr val="C24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2A93B">
              <a:alpha val="15000"/>
            </a:srgbClr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плохо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7415784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2A93B">
              <a:alpha val="15000"/>
            </a:srgbClr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15784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15784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плохо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09176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74352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3A8B5C">
              <a:alpha val="15000"/>
            </a:srgbClr>
          </a:solidFill>
          <a:ln w="15875">
            <a:solidFill>
              <a:srgbClr val="3A8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74352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74352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Ни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одного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поля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об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источнике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трафика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Ни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одной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цифры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затрат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на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рекламу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
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Целевая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метрика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— ROMI.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Посчитать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её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исторически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«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до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копейки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»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невозможно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—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это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свойство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данных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а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не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ошибка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постановки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Picture background">
            <a:extLst>
              <a:ext uri="{FF2B5EF4-FFF2-40B4-BE49-F238E27FC236}">
                <a16:creationId xmlns:a16="http://schemas.microsoft.com/office/drawing/2014/main" id="{B49E9534-A9FB-4D25-BBA1-96883D937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383" y="-554976"/>
            <a:ext cx="2300034" cy="230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дней реальных продаж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в файле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79776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79776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после склейки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19472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98864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 млн ₽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198864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679931800"/>
              </p:ext>
            </p:extLst>
          </p:nvPr>
        </p:nvGraphicFramePr>
        <p:xfrm>
          <a:off x="502920" y="2697480"/>
          <a:ext cx="7589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3"/>
          <p:cNvSpPr/>
          <p:nvPr/>
        </p:nvSpPr>
        <p:spPr>
          <a:xfrm>
            <a:off x="8366760" y="2697480"/>
            <a:ext cx="3200400" cy="1600200"/>
          </a:xfrm>
          <a:prstGeom prst="roundRect">
            <a:avLst>
              <a:gd name="adj" fmla="val 3429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17" name="Text 14"/>
          <p:cNvSpPr txBox="1"/>
          <p:nvPr/>
        </p:nvSpPr>
        <p:spPr>
          <a:xfrm>
            <a:off x="85496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Границу заказа не пришлось гадать
</a:t>
            </a:r>
            <a:r>
              <a:rPr lang="en-US" sz="1400" dirty="0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167 из 189 пар покупок разделены ровно 0 </a:t>
            </a:r>
            <a:r>
              <a:rPr lang="en-US" sz="1400" dirty="0" err="1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секунд</a:t>
            </a:r>
            <a:r>
              <a:rPr lang="ru-RU" sz="1400" dirty="0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366760" y="4526280"/>
            <a:ext cx="3200400" cy="1600200"/>
          </a:xfrm>
          <a:prstGeom prst="roundRect">
            <a:avLst>
              <a:gd name="adj" fmla="val 3429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19" name="Text 16"/>
          <p:cNvSpPr txBox="1"/>
          <p:nvPr/>
        </p:nvSpPr>
        <p:spPr>
          <a:xfrm>
            <a:off x="8549640" y="4663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Выходные дают почти половину продаж
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заказов и 45% выручки — суббота и воскресенье. Заложено в атрибуцию и прогноз.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Нашли рекламу, о которой не знали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доступа к внутренней аналитике — только публичный архив канала, TGStat, Telemetr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 авг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Распродажа СТАРТ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высокая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пакетов окна — с курсом «Алгоритмы» (против 31% вне окна)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20–23 авг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линейки ПРО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ПРО: 0,8 → 10,5 заказов/день, рост в 13 раз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авг – 6 сен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Т-Банк + скидка ПРО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высокая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и 45 заказов 4–5 сентября, 8 950 ₽ — доминирующая цена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34856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856" y="2011680"/>
            <a:ext cx="260604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9448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7–10 сен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Бесплатная неделя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новую воронку, прямой связи с продажами не видно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0" name="Picture 2" descr="Picture background">
            <a:extLst>
              <a:ext uri="{FF2B5EF4-FFF2-40B4-BE49-F238E27FC236}">
                <a16:creationId xmlns:a16="http://schemas.microsoft.com/office/drawing/2014/main" id="{5E85C79C-1E72-4CE6-95B2-A370E274F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329" y="4242656"/>
            <a:ext cx="2853247" cy="285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клика до продажи — одна база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50008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7" name="Shape 5"/>
          <p:cNvSpPr/>
          <p:nvPr/>
        </p:nvSpPr>
        <p:spPr>
          <a:xfrm>
            <a:off x="2532888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2888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0" name="Shape 8"/>
          <p:cNvSpPr/>
          <p:nvPr/>
        </p:nvSpPr>
        <p:spPr>
          <a:xfrm>
            <a:off x="4517136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18504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1384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tracking_codes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02752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5632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49156" y="2359152"/>
            <a:ext cx="256032" cy="320040"/>
          </a:xfrm>
          <a:prstGeom prst="downArrow">
            <a:avLst/>
          </a:prstGeom>
          <a:solidFill>
            <a:srgbClr val="5C6478"/>
          </a:solidFill>
          <a:ln/>
        </p:spPr>
      </p:sp>
      <p:sp>
        <p:nvSpPr>
          <p:cNvPr id="19" name="Shape 17"/>
          <p:cNvSpPr/>
          <p:nvPr/>
        </p:nvSpPr>
        <p:spPr>
          <a:xfrm>
            <a:off x="7662672" y="278892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2A93B">
              <a:alpha val="1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2672" y="27889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(реальные продажи)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10881360" cy="1051560"/>
          </a:xfrm>
          <a:prstGeom prst="roundRect">
            <a:avLst>
              <a:gd name="adj" fmla="val 5217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22" name="Text 20"/>
          <p:cNvSpPr txBox="1"/>
          <p:nvPr/>
        </p:nvSpPr>
        <p:spPr>
          <a:xfrm>
            <a:off x="822960" y="3657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таблиц, три группы: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(пользователи) ·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реклама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(кампания→размещение→креатив→метка) ·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произошло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(касания, интерес, разговор, посты, оплаты)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решение: payments не ссылается на конкретное касание.
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touches хранит все точки контакта — какому каналу приписать продажу, решает </a:t>
            </a:r>
            <a:r>
              <a:rPr lang="en-US" sz="1600" dirty="0" err="1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атрибуции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структура БД.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6" name="Picture 2" descr="Picture background">
            <a:extLst>
              <a:ext uri="{FF2B5EF4-FFF2-40B4-BE49-F238E27FC236}">
                <a16:creationId xmlns:a16="http://schemas.microsoft.com/office/drawing/2014/main" id="{01E8F814-95F4-47E0-80E0-EF7DAD046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808" y="-226413"/>
            <a:ext cx="2250365" cy="225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icture background">
            <a:extLst>
              <a:ext uri="{FF2B5EF4-FFF2-40B4-BE49-F238E27FC236}">
                <a16:creationId xmlns:a16="http://schemas.microsoft.com/office/drawing/2014/main" id="{9D6100D7-7B48-45BF-9C81-BA65E8715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5" y="4343400"/>
            <a:ext cx="2250365" cy="225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засчитать продажу?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touch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417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заслуга первому касанию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075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touch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075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заслуга последнему касанию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7340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340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Поровну между всеми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39242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392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ближе к покупке, тем больше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A93B">
              <a:alpha val="22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050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based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050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первому, 40% последнему, 20% — остальным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4204321926"/>
              </p:ext>
            </p:extLst>
          </p:nvPr>
        </p:nvGraphicFramePr>
        <p:xfrm>
          <a:off x="6263640" y="1417320"/>
          <a:ext cx="5349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434340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448056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каналов может перевернуться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реальных данных разница ROMI между моделями — до 29%, но ранжирование каналов стабильно. Кроме случая, когда один канал знакомит, а другой дожимает — тогда first-touch и last-touch дают противоположные рекомендации.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атрибуции — 9 дней, посчитано по перцентилю лага «касание → покупка» (90% укладываются)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«После» не значит «из-за»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рекламы (разница разниц) ≈ +8,6 заказа/день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537960" y="1371600"/>
            <a:ext cx="5074920" cy="1965960"/>
          </a:xfrm>
          <a:prstGeom prst="roundRect">
            <a:avLst>
              <a:gd name="adj" fmla="val 2791"/>
            </a:avLst>
          </a:prstGeom>
          <a:solidFill>
            <a:srgbClr val="CADCFC">
              <a:alpha val="60000"/>
            </a:srgbClr>
          </a:solidFill>
          <a:ln>
            <a:solidFill>
              <a:schemeClr val="dk1"/>
            </a:solidFill>
          </a:ln>
        </p:spPr>
      </p:sp>
      <p:sp>
        <p:nvSpPr>
          <p:cNvPr id="7" name="Text 4"/>
          <p:cNvSpPr txBox="1"/>
          <p:nvPr/>
        </p:nvSpPr>
        <p:spPr>
          <a:xfrm>
            <a:off x="6720840" y="1536192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августа: скидка и выходной неразличимы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заказов вместо обычных 9–12. Честная вилка эффекта рекламы — от 42 до 56, точнее нельзя: почти все акции запускались именно по выходным.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37960" y="352044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6576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будущее: holdout в рассылке бота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в канале видят все подписчики сразу — обычный A/B невозможен. Единственное честное место для рандомизации — рассылка бота: часть людей сознательно её не получает.
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1 468 человек на группу 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чтобы поймать лифт +50% при конверсии 5%.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71722DEA-EA0F-433A-95A4-F4490978C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46" y="5019115"/>
            <a:ext cx="1838885" cy="183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ROMI вместо одного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  <a:alpha val="25000"/>
            </a:schemeClr>
          </a:solidFill>
          <a:ln>
            <a:solidFill>
              <a:schemeClr val="dk1"/>
            </a:solidFill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ROMI_attr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атрибуции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мы приписали уже случившуюся продажу — по правилам из задачи 6.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A93B">
              <a:alpha val="25000"/>
            </a:srgbClr>
          </a:solidFill>
          <a:ln>
            <a:solidFill>
              <a:schemeClr val="dk1"/>
            </a:solidFill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ROMI_inc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holdout-тест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реклама добавила на самом деле — по результату эксперимента из задачи 7.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ними = органический спрос, который не стоит записывать в заслугу рекламе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Рыночная оценка стоимости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 на рекламу в данных нет ни одной цифры. Пост в канале на ~20 000 подписчиков —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5 000–15 000 ₽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(открытые прайсы, помечено как оценка).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416052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3434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без затрат — </a:t>
            </a: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∞, а н/д
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канал и органика формально стоят 0 ₽. Делить на ноль и показывать бесконечный ROMI — вводит в заблуждение. Рядом считается CAC.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8" name="Picture 2" descr="Picture background">
            <a:extLst>
              <a:ext uri="{FF2B5EF4-FFF2-40B4-BE49-F238E27FC236}">
                <a16:creationId xmlns:a16="http://schemas.microsoft.com/office/drawing/2014/main" id="{AB0B8535-84D1-45BC-BFA3-5604C2F9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680" y="-160020"/>
            <a:ext cx="164592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Picture background">
            <a:extLst>
              <a:ext uri="{FF2B5EF4-FFF2-40B4-BE49-F238E27FC236}">
                <a16:creationId xmlns:a16="http://schemas.microsoft.com/office/drawing/2014/main" id="{2452EF54-8261-4D66-A6A4-8839692B9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576" y="4507992"/>
            <a:ext cx="2350008" cy="235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9–10 (MVP)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честен, MVP работает целиком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продаж: backtest бейзлайнов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31221"/>
              </p:ext>
            </p:extLst>
          </p:nvPr>
        </p:nvGraphicFramePr>
        <p:xfrm>
          <a:off x="548640" y="1783080"/>
          <a:ext cx="548640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wd_profile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86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≈50%.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количественный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провал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37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относительно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нерегулярных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промо-эффектов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355080" y="13716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python demo.py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29400" y="224028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7"/>
          <p:cNvSpPr txBox="1"/>
          <p:nvPr/>
        </p:nvSpPr>
        <p:spPr>
          <a:xfrm>
            <a:off x="662940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59168" y="218061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продажи (795 строк base.xlsx) → SQLite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280720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2940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59168" y="273622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 касания — 1-3 на заказ, честная органика 35%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337413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59168" y="33192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моделей атрибуции поверх реальных+синтетических данных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29400" y="3941064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59168" y="3886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и CAC по каналам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29400" y="4507992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59168" y="444265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 и прогноз — на 100% реальных данных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— весь прогон, с явной сводкой «что реальное, что синтетика»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Picture background">
            <a:extLst>
              <a:ext uri="{FF2B5EF4-FFF2-40B4-BE49-F238E27FC236}">
                <a16:creationId xmlns:a16="http://schemas.microsoft.com/office/drawing/2014/main" id="{8C29EC95-6EDE-49CA-8759-B46FBF185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54" y="1147591"/>
            <a:ext cx="4562817" cy="456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64008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 ₽: не гадать, а измерять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канал называть не обязательно — нужна система принятия решения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210 000 ₽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9659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волна поровну по 4-5 каналам — иначе сравнение нечестное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706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₽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706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— усилить то, что сработало, не то, что казалось перспективным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75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57530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размещений + бесплатный holdout в рассылке параллельно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799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</a:t>
            </a:r>
            <a:r>
              <a:rPr lang="ru-RU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3799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ROMI_attr, ROMI_inc и CAC по каналу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846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1846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— в канал с лучшим ROMI по марже, а не по выручке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6080760"/>
            <a:ext cx="1088136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holdout не показал разницы — так и пишем: «эффекта не обнаружено», а не «эффект есть, но маленький».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1038</Words>
  <Application>Microsoft Office PowerPoint</Application>
  <PresentationFormat>Широкоэкранный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145786</vt:lpstr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Твоя Zefiro</cp:lastModifiedBy>
  <cp:revision>16</cp:revision>
  <dcterms:created xsi:type="dcterms:W3CDTF">2026-09-12T15:27:20Z</dcterms:created>
  <dcterms:modified xsi:type="dcterms:W3CDTF">2026-09-12T17:16:01Z</dcterms:modified>
</cp:coreProperties>
</file>